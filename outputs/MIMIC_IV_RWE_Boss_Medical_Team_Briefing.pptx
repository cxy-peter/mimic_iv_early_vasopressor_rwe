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976"/>
                </a:solidFill>
              </a:defRPr>
            </a:pPr>
            <a:r>
              <a:t>MIMIC-IV ICU 真实世界证据分析汇报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早期升压药使用与院内死亡风险：Target Trial Emulation + IPTW/AIPW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89920" cy="201168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72768"/>
            <a:ext cx="10460736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976"/>
                </a:solidFill>
              </a:defRPr>
            </a:pPr>
            <a:r>
              <a:t>汇报目的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向老板和医学团队展示 RWE 项目的研究设计、数据提取、统计分析和医学解释。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当前结果为 preliminary analysis，适合内部讨论和简历项目展示。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重点不是证明疗效，而是展示如何处理 ICU 观察性治疗策略中的 confounding by indication。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3977639"/>
            <a:ext cx="23774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4976"/>
                </a:solidFill>
              </a:defRPr>
            </a:pPr>
            <a:r>
              <a:t>9,502</a:t>
            </a:r>
          </a:p>
          <a:p>
            <a:pPr algn="ctr">
              <a:defRPr sz="1100">
                <a:solidFill>
                  <a:srgbClr val="2D2D2D"/>
                </a:solidFill>
              </a:defRPr>
            </a:pPr>
            <a:r>
              <a:t>Analytic cohort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3977639"/>
            <a:ext cx="23774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4976"/>
                </a:solidFill>
              </a:defRPr>
            </a:pPr>
            <a:r>
              <a:t>3,772</a:t>
            </a:r>
          </a:p>
          <a:p>
            <a:pPr algn="ctr">
              <a:defRPr sz="1100">
                <a:solidFill>
                  <a:srgbClr val="2D2D2D"/>
                </a:solidFill>
              </a:defRPr>
            </a:pPr>
            <a:r>
              <a:t>Early VP 0-6h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977639"/>
            <a:ext cx="23774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4976"/>
                </a:solidFill>
              </a:defRPr>
            </a:pPr>
            <a:r>
              <a:t>5,730</a:t>
            </a:r>
          </a:p>
          <a:p>
            <a:pPr algn="ctr">
              <a:defRPr sz="1100">
                <a:solidFill>
                  <a:srgbClr val="2D2D2D"/>
                </a:solidFill>
              </a:defRPr>
            </a:pPr>
            <a:r>
              <a:t>No early VP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3977639"/>
            <a:ext cx="23774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4976"/>
                </a:solidFill>
              </a:defRPr>
            </a:pPr>
            <a:r>
              <a:t>1.17 pp</a:t>
            </a:r>
          </a:p>
          <a:p>
            <a:pPr algn="ctr">
              <a:defRPr sz="1100">
                <a:solidFill>
                  <a:srgbClr val="2D2D2D"/>
                </a:solidFill>
              </a:defRPr>
            </a:pPr>
            <a:r>
              <a:t>AIPW risk difference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MIMIC-IV RWE briefing | preliminary analysis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976"/>
                </a:solidFill>
              </a:defRPr>
            </a:pPr>
            <a:r>
              <a:t>1. 研究问题与临床背景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ICU 治疗策略分析中，粗比较通常会受到疾病严重程度影响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394960" cy="438912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389888"/>
            <a:ext cx="5065776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976"/>
                </a:solidFill>
              </a:defRPr>
            </a:pPr>
            <a:r>
              <a:t>Research Question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Adult sepsis-coded first ICU stays 中，ICU admission 后 6 小时内早期使用升压药是否与院内死亡风险相关？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Treatment strategy: early vasopressor initiation within 0-6 hours.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Comparator: no vasopressor initiation within 0-6 hours.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280160"/>
            <a:ext cx="5212080" cy="438912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389888"/>
            <a:ext cx="4882896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976"/>
                </a:solidFill>
              </a:defRPr>
            </a:pPr>
            <a:r>
              <a:t>Why RWE Methods Matter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早期升压药患者通常更重，粗死亡率比较容易误导。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需要 target trial emulation 明确定义 time zero、grace period、baseline confounders。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使用 PS/IPTW/AIPW 评估 measured confounding 调整后的 treatment strategy association。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MIMIC-IV RWE briefing | preliminary analysis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976"/>
                </a:solidFill>
              </a:defRPr>
            </a:pPr>
            <a:r>
              <a:t>2. Target Trial Emulation 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将 EHR 观察性数据尽量整理成“模拟试验”的分析结构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10789920" cy="594360"/>
          </a:xfrm>
          <a:prstGeom prst="roundRect">
            <a:avLst/>
          </a:prstGeom>
          <a:solidFill>
            <a:srgbClr val="F8FA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4976"/>
                </a:solidFill>
              </a:defRPr>
            </a:pPr>
            <a:r>
              <a:t>Population</a:t>
            </a:r>
          </a:p>
          <a:p>
            <a:pPr algn="ctr">
              <a:defRPr sz="1100">
                <a:solidFill>
                  <a:srgbClr val="2D2D2D"/>
                </a:solidFill>
              </a:defRPr>
            </a:pPr>
            <a:r>
              <a:t>Adult first ICU stay + sepsis ICD proxy + 6h landmark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89920" cy="594360"/>
          </a:xfrm>
          <a:prstGeom prst="roundRect">
            <a:avLst/>
          </a:prstGeom>
          <a:solidFill>
            <a:srgbClr val="F8FA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4976"/>
                </a:solidFill>
              </a:defRPr>
            </a:pPr>
            <a:r>
              <a:t>Treatment</a:t>
            </a:r>
          </a:p>
          <a:p>
            <a:pPr algn="ctr">
              <a:defRPr sz="1100">
                <a:solidFill>
                  <a:srgbClr val="2D2D2D"/>
                </a:solidFill>
              </a:defRPr>
            </a:pPr>
            <a:r>
              <a:t>Vasopressor started within 0-6h after ICU admission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10789920" cy="594360"/>
          </a:xfrm>
          <a:prstGeom prst="roundRect">
            <a:avLst/>
          </a:prstGeom>
          <a:solidFill>
            <a:srgbClr val="F8FA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4976"/>
                </a:solidFill>
              </a:defRPr>
            </a:pPr>
            <a:r>
              <a:t>Comparator</a:t>
            </a:r>
          </a:p>
          <a:p>
            <a:pPr algn="ctr">
              <a:defRPr sz="1100">
                <a:solidFill>
                  <a:srgbClr val="2D2D2D"/>
                </a:solidFill>
              </a:defRPr>
            </a:pPr>
            <a:r>
              <a:t>No vasopressor initiation within 0-6h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10789920" cy="594360"/>
          </a:xfrm>
          <a:prstGeom prst="roundRect">
            <a:avLst/>
          </a:prstGeom>
          <a:solidFill>
            <a:srgbClr val="F8FA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4976"/>
                </a:solidFill>
              </a:defRPr>
            </a:pPr>
            <a:r>
              <a:t>Outcome</a:t>
            </a:r>
          </a:p>
          <a:p>
            <a:pPr algn="ctr">
              <a:defRPr sz="1100">
                <a:solidFill>
                  <a:srgbClr val="2D2D2D"/>
                </a:solidFill>
              </a:defRPr>
            </a:pPr>
            <a:r>
              <a:t>Hospital mortality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51960"/>
            <a:ext cx="10789920" cy="594360"/>
          </a:xfrm>
          <a:prstGeom prst="roundRect">
            <a:avLst/>
          </a:prstGeom>
          <a:solidFill>
            <a:srgbClr val="F8FA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4976"/>
                </a:solidFill>
              </a:defRPr>
            </a:pPr>
            <a:r>
              <a:t>Confounders</a:t>
            </a:r>
          </a:p>
          <a:p>
            <a:pPr algn="ctr">
              <a:defRPr sz="1100">
                <a:solidFill>
                  <a:srgbClr val="2D2D2D"/>
                </a:solidFill>
              </a:defRPr>
            </a:pPr>
            <a:r>
              <a:t>Demographics, admission type, care unit, first-6h vitals/labs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0789920" cy="594360"/>
          </a:xfrm>
          <a:prstGeom prst="roundRect">
            <a:avLst/>
          </a:prstGeom>
          <a:solidFill>
            <a:srgbClr val="F8FA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4976"/>
                </a:solidFill>
              </a:defRPr>
            </a:pPr>
            <a:r>
              <a:t>Estimand</a:t>
            </a:r>
          </a:p>
          <a:p>
            <a:pPr algn="ctr">
              <a:defRPr sz="1100">
                <a:solidFill>
                  <a:srgbClr val="2D2D2D"/>
                </a:solidFill>
              </a:defRPr>
            </a:pPr>
            <a:r>
              <a:t>Average effect / adjusted risk difference in target population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MIMIC-IV RWE briefing | preliminary analysis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976"/>
                </a:solidFill>
              </a:defRPr>
            </a:pPr>
            <a:r>
              <a:t>3. 数据构建流程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从源数据表构建 one-row-per-ICU-stay analysis 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5394960" cy="228600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252728"/>
            <a:ext cx="5065776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976"/>
                </a:solidFill>
              </a:defRPr>
            </a:pPr>
            <a:r>
              <a:t>Core Source Tables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hosp: patients, admissions, diagnoses_icd, labevents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icu: icustays, inputevents, d_items, chartevents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Output: patient/stay-level cohort + exposure + covariates + outcome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143000"/>
            <a:ext cx="5212080" cy="228600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252728"/>
            <a:ext cx="4882896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976"/>
                </a:solidFill>
              </a:defRPr>
            </a:pPr>
            <a:r>
              <a:t>Derived Variables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first_vasopressor_time and early_vasopressor flag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first-6-hour vitals/labs: HR, MAP/MBP, RR, temperature, lactate, creatinine, WBC, platelet, albumin, bilirubin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hospital_expire_flag as primary outcome</a:t>
            </a:r>
          </a:p>
        </p:txBody>
      </p:sp>
      <p:pic>
        <p:nvPicPr>
          <p:cNvPr id="8" name="Picture 7" descr="cohort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3657600"/>
            <a:ext cx="5212080" cy="3474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MIMIC-IV RWE briefing | preliminary analysis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976"/>
                </a:solidFill>
              </a:defRPr>
            </a:pPr>
            <a:r>
              <a:t>4. Cohort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当前可用于内部讨论和简历项目展示的 preliminary cohort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80160"/>
            <a:ext cx="256032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4976"/>
                </a:solidFill>
              </a:defRPr>
            </a:pPr>
            <a:r>
              <a:t>9,502</a:t>
            </a:r>
          </a:p>
          <a:p>
            <a:pPr algn="ctr">
              <a:defRPr sz="1100">
                <a:solidFill>
                  <a:srgbClr val="2D2D2D"/>
                </a:solidFill>
              </a:defRPr>
            </a:pPr>
            <a:r>
              <a:t>Analytic cohort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280160"/>
            <a:ext cx="256032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4976"/>
                </a:solidFill>
              </a:defRPr>
            </a:pPr>
            <a:r>
              <a:t>3,772</a:t>
            </a:r>
          </a:p>
          <a:p>
            <a:pPr algn="ctr">
              <a:defRPr sz="1100">
                <a:solidFill>
                  <a:srgbClr val="2D2D2D"/>
                </a:solidFill>
              </a:defRPr>
            </a:pPr>
            <a:r>
              <a:t>Early VP (39.7%)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280160"/>
            <a:ext cx="256032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4976"/>
                </a:solidFill>
              </a:defRPr>
            </a:pPr>
            <a:r>
              <a:t>5,730</a:t>
            </a:r>
          </a:p>
          <a:p>
            <a:pPr algn="ctr">
              <a:defRPr sz="1100">
                <a:solidFill>
                  <a:srgbClr val="2D2D2D"/>
                </a:solidFill>
              </a:defRPr>
            </a:pPr>
            <a:r>
              <a:t>No early VP (60.3%)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280160"/>
            <a:ext cx="256032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4976"/>
                </a:solidFill>
              </a:defRPr>
            </a:pPr>
            <a:r>
              <a:t>28.3%</a:t>
            </a:r>
          </a:p>
          <a:p>
            <a:pPr algn="ctr">
              <a:defRPr sz="1100">
                <a:solidFill>
                  <a:srgbClr val="2D2D2D"/>
                </a:solidFill>
              </a:defRPr>
            </a:pPr>
            <a:r>
              <a:t>Overall mortality</a:t>
            </a:r>
          </a:p>
        </p:txBody>
      </p:sp>
      <p:pic>
        <p:nvPicPr>
          <p:cNvPr id="8" name="Picture 7" descr="crude_mort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71800"/>
            <a:ext cx="5029200" cy="3352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3063240"/>
            <a:ext cx="4754880" cy="219456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3172968"/>
            <a:ext cx="4425696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976"/>
                </a:solidFill>
              </a:defRPr>
            </a:pPr>
            <a:r>
              <a:t>Interpretation of crude results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Early VP crude mortality: 32.9%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No early VP crude mortality: 25.2%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粗结果不能直接做因果解读；早期用药通常代表病情更重。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MIMIC-IV RWE briefing | preliminary analysis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976"/>
                </a:solidFill>
              </a:defRPr>
            </a:pPr>
            <a:r>
              <a:t>5. Propensity Score 与 Overlap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检查 treated/control 是否存在可比较区域</a:t>
            </a:r>
          </a:p>
        </p:txBody>
      </p:sp>
      <p:pic>
        <p:nvPicPr>
          <p:cNvPr id="4" name="Picture 3" descr="propensity_overl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6766560" cy="386660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0" y="1463040"/>
            <a:ext cx="3840480" cy="384048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36992" y="1572768"/>
            <a:ext cx="3511296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976"/>
                </a:solidFill>
              </a:defRPr>
            </a:pPr>
            <a:r>
              <a:t>Key Message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两组 propensity score 分布存在重叠，支持后续加权分析。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早期升压药组分布略偏高，符合“病情更重者更可能早期用药”的临床预期。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正式研究可进一步做 overlap trimming / positivity check。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MIMIC-IV RWE briefing | preliminary analysis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976"/>
                </a:solidFill>
              </a:defRPr>
            </a:pPr>
            <a:r>
              <a:t>6. Covariate Balance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IPTW 后 measured baseline covariates 的平衡性改善</a:t>
            </a:r>
          </a:p>
        </p:txBody>
      </p:sp>
      <p:pic>
        <p:nvPicPr>
          <p:cNvPr id="4" name="Picture 3" descr="love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6858000" cy="391885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18120" y="1325880"/>
            <a:ext cx="3749039" cy="402336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82712" y="1435607"/>
            <a:ext cx="3419856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976"/>
                </a:solidFill>
              </a:defRPr>
            </a:pPr>
            <a:r>
              <a:t>Balance Summary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13/13 numeric covariates had |SMD| &lt; 0.1 after IPTW.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Max |SMD| before weighting: 0.288.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Max |SMD| after IPTW: 0.046.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Measured confounding 改善，但 unmeasured confounding 仍需谨慎。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MIMIC-IV RWE briefing | preliminary analysis |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976"/>
                </a:solidFill>
              </a:defRPr>
            </a:pPr>
            <a:r>
              <a:t>7. Adjusted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AIPW 调整后 risk difference 接近 null</a:t>
            </a:r>
          </a:p>
        </p:txBody>
      </p:sp>
      <p:pic>
        <p:nvPicPr>
          <p:cNvPr id="4" name="Picture 3" descr="aipw_rd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08760"/>
            <a:ext cx="5486400" cy="2011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583680" y="1325880"/>
            <a:ext cx="4754880" cy="411480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48272" y="1435607"/>
            <a:ext cx="4425696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976"/>
                </a:solidFill>
              </a:defRPr>
            </a:pPr>
            <a:r>
              <a:t>Adjusted Estimate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AIPW risk difference: 1.17 percentage points.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95% CI: -0.52 to 2.87 percentage points.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置信区间跨 0；不支持从当前版本中得出明确方向性因果结论。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与粗死亡率差异相比，调整后估计明显减弱。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MIMIC-IV RWE briefing | preliminary analysis |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976"/>
                </a:solidFill>
              </a:defRPr>
            </a:pPr>
            <a:r>
              <a:t>8. 医学解读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结论表达要强调“观察性关联”而不是“证明疗效”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486400" cy="438912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344168"/>
            <a:ext cx="5157216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976"/>
                </a:solidFill>
              </a:defRPr>
            </a:pPr>
            <a:r>
              <a:t>For Medical Team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早期升压药是 ICU shock severity 的强信号，不能把 crude mortality 直接解释为治疗有害。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当前 adjusted RD 接近 null，提示 baseline measured covariates 调整后关联减弱。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需要复核 sepsis onset、shock 定义、升压药 itemid、液体复苏和 SOFA/Charlson。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34440"/>
            <a:ext cx="5212080" cy="438912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5392" y="1344168"/>
            <a:ext cx="4882896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976"/>
                </a:solidFill>
              </a:defRPr>
            </a:pPr>
            <a:r>
              <a:t>For Boss / Business Audience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项目展示完整 RWE pipeline：cohort design → data extraction → TFL → causal adjustment → medical interpretation。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结果可用于内部方法展示和实习/简历项目，不应作为 clinical guidance。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下一步可升级为 protocol/SAP + sensitivity analyses + reproducible report。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MIMIC-IV RWE briefing | preliminary analysis |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976"/>
                </a:solidFill>
              </a:defRPr>
            </a:pPr>
            <a:r>
              <a:t>9. 局限性与风险控制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把方法学风险讲清楚，反而更贴近 RWE 工作要求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486400" cy="438912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344168"/>
            <a:ext cx="5157216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976"/>
                </a:solidFill>
              </a:defRPr>
            </a:pPr>
            <a:r>
              <a:t>Current Limitations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Sepsis 使用 ICD proxy；正式研究应验证 Sepsis-3 derived onset。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Time zero 当前为 ICU admission；可能与真实 sepsis onset 有偏差。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仍存在 residual/unmeasured confounding。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CSV malformed rows 的读取容错适合 portfolio；正式研究需源文件完整性核验。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34440"/>
            <a:ext cx="5212080" cy="438912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5392" y="1344168"/>
            <a:ext cx="4882896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976"/>
                </a:solidFill>
              </a:defRPr>
            </a:pPr>
            <a:r>
              <a:t>How We Control Risk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使用 6h landmark/grace period 降低 immortal time bias。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仅使用 baseline/first-6h covariates 做 confounding adjustment。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用 PS overlap、SMD/love plot 做诊断。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报告中避免 “proved / causal proof” 等过度措辞。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MIMIC-IV RWE briefing | preliminary analysis |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976"/>
                </a:solidFill>
              </a:defRPr>
            </a:pPr>
            <a:r>
              <a:t>10. 下一步计划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将 portfolio 项目升级为更接近正式 RWE study deliverables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486400" cy="438912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344168"/>
            <a:ext cx="5157216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976"/>
                </a:solidFill>
              </a:defRPr>
            </a:pPr>
            <a:r>
              <a:t>Technical Next Steps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接入 mimic-code derived tables: sepsis3, SOFA, Charlson, vasopressor, ventilation。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补充 sensitivity analyses: 0-3h/0-6h/0-12h window, early vs delayed 6-24h。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加入 subgroup analyses: lactate/MAP/shock severity/ventilation。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34440"/>
            <a:ext cx="5212080" cy="438912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5392" y="1344168"/>
            <a:ext cx="4882896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976"/>
                </a:solidFill>
              </a:defRPr>
            </a:pPr>
            <a:r>
              <a:t>RWE Deliverables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Protocol outline: research question, estimand, cohort, endpoints, bias control。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SAP: analysis set, missing data, PS, IPTW/AIPW, sensitivity analyses。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TFL: cohort flow, Table 1, balance diagnostics, outcome estimates, figures。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MIMIC-IV RWE briefing | preliminary analysis |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976"/>
                </a:solidFill>
              </a:defRPr>
            </a:pPr>
            <a:r>
              <a:t>11. Take-home Message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这是一份更贴近 RWE &amp; Analytics 实习岗位的项目展示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34440"/>
            <a:ext cx="10515600" cy="146304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344168"/>
            <a:ext cx="10186416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976"/>
                </a:solidFill>
              </a:defRPr>
            </a:pPr>
            <a:r>
              <a:t>One-sentence Summary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We built a reproducible MIMIC-IV ICU RWE analysis of 9,502 adult sepsis-coded first ICU stays and showed that crude mortality differences between early and non-early vasopressor strategies were attenuated after PS/IPTW/AIPW adjustment.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34640"/>
            <a:ext cx="10515600" cy="292608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944368"/>
            <a:ext cx="10186416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976"/>
                </a:solidFill>
              </a:defRPr>
            </a:pPr>
            <a:r>
              <a:t>Why This Fits the JD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真实世界观察性研究：cohort construction + treatment strategy + outcome analysis。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方案/SAP/报告：明确 TTE elements、bias control、statistical methods。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数据分析：SQL/Python extraction, PS diagnostics, IPTW, AIPW, TFL outputs。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</a:defRPr>
            </a:pPr>
            <a:r>
              <a:t>医学沟通：主动讨论 confounding by indication 和临床定义验证。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MIMIC-IV RWE briefing | preliminary analysis | slide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